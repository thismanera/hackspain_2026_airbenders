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Empresas</c:v>
                </c:pt>
              </c:strCache>
            </c:strRef>
          </c:tx>
          <c:spPr>
            <a:solidFill>
              <a:srgbClr val="3478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20–29</c:v>
                  </c:pt>
                  <c:pt idx="1">
                    <c:v>30–39</c:v>
                  </c:pt>
                  <c:pt idx="2">
                    <c:v>40–49</c:v>
                  </c:pt>
                  <c:pt idx="3">
                    <c:v>50–59</c:v>
                  </c:pt>
                  <c:pt idx="4">
                    <c:v>60–69</c:v>
                  </c:pt>
                  <c:pt idx="5">
                    <c:v>70–79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48</c:v>
                </c:pt>
                <c:pt idx="2">
                  <c:v>215</c:v>
                </c:pt>
                <c:pt idx="3">
                  <c:v>713</c:v>
                </c:pt>
                <c:pt idx="4">
                  <c:v>279</c:v>
                </c:pt>
                <c:pt idx="5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1270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Empresas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A594"/>
              </a:solidFill>
              <a:effectLst/>
            </c:spPr>
          </c:dPt>
          <c:dPt>
            <c:idx val="1"/>
            <c:bubble3D val="0"/>
            <c:spPr>
              <a:solidFill>
                <a:srgbClr val="3478C5"/>
              </a:solidFill>
              <a:effectLst/>
            </c:spPr>
          </c:dPt>
          <c:dPt>
            <c:idx val="2"/>
            <c:bubble3D val="0"/>
            <c:spPr>
              <a:solidFill>
                <a:srgbClr val="E6A23C"/>
              </a:solidFill>
              <a:effectLst/>
            </c:spPr>
          </c:dPt>
          <c:dPt>
            <c:idx val="3"/>
            <c:bubble3D val="0"/>
            <c:spPr>
              <a:solidFill>
                <a:srgbClr val="E45D5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824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824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824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824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0</c:v>
                </c:pt>
                <c:pt idx="1">
                  <c:v>302</c:v>
                </c:pt>
                <c:pt idx="2">
                  <c:v>870</c:v>
                </c:pt>
                <c:pt idx="3">
                  <c:v>114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Empresas</c:v>
                </c:pt>
              </c:strCache>
            </c:strRef>
          </c:tx>
          <c:spPr>
            <a:solidFill>
              <a:srgbClr val="E45D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mantener</c:v>
                  </c:pt>
                  <c:pt idx="1">
                    <c:v>cerrar</c:v>
                  </c:pt>
                  <c:pt idx="2">
                    <c:v>reducir</c:v>
                  </c:pt>
                  <c:pt idx="3">
                    <c:v>ampliar</c:v>
                  </c:pt>
                  <c:pt idx="4">
                    <c:v>abrir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730</c:v>
                </c:pt>
                <c:pt idx="1">
                  <c:v>438</c:v>
                </c:pt>
                <c:pt idx="2">
                  <c:v>74</c:v>
                </c:pt>
                <c:pt idx="3">
                  <c:v>30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</c:scaling>
        <c:delete val="0"/>
        <c:axPos val="l"/>
        <c:majorGridlines>
          <c:spPr>
            <a:ln w="1270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COMP_0074</c:v>
                </c:pt>
              </c:strCache>
            </c:strRef>
          </c:tx>
          <c:spPr>
            <a:solidFill>
              <a:srgbClr val="5B8FF9"/>
            </a:solidFill>
            <a:ln w="25400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8FF9"/>
              </a:solidFill>
              <a:ln w="9525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49.860970666591896</c:v>
                </c:pt>
                <c:pt idx="1">
                  <c:v>48.5124683496313</c:v>
                </c:pt>
                <c:pt idx="2">
                  <c:v>50.008389142554805</c:v>
                </c:pt>
                <c:pt idx="3">
                  <c:v>52.467151552803315</c:v>
                </c:pt>
                <c:pt idx="4">
                  <c:v>53.22992771470981</c:v>
                </c:pt>
                <c:pt idx="5">
                  <c:v>54.724856815325154</c:v>
                </c:pt>
                <c:pt idx="6">
                  <c:v>58.2822687189854</c:v>
                </c:pt>
                <c:pt idx="7">
                  <c:v>58.61524581555176</c:v>
                </c:pt>
                <c:pt idx="8">
                  <c:v>57.713974605174236</c:v>
                </c:pt>
                <c:pt idx="9">
                  <c:v>58.273564560628955</c:v>
                </c:pt>
                <c:pt idx="10">
                  <c:v>59.17223371929744</c:v>
                </c:pt>
                <c:pt idx="11">
                  <c:v>57.1111249269476</c:v>
                </c:pt>
                <c:pt idx="12">
                  <c:v>58.09865522849515</c:v>
                </c:pt>
                <c:pt idx="13">
                  <c:v>57.652122954559864</c:v>
                </c:pt>
                <c:pt idx="14">
                  <c:v>56.18144833039795</c:v>
                </c:pt>
                <c:pt idx="15">
                  <c:v>52.84410618279367</c:v>
                </c:pt>
                <c:pt idx="16">
                  <c:v>51.94337945765256</c:v>
                </c:pt>
                <c:pt idx="17">
                  <c:v>49.84270845479368</c:v>
                </c:pt>
                <c:pt idx="18">
                  <c:v>50.398259320987236</c:v>
                </c:pt>
                <c:pt idx="19">
                  <c:v>51.471785418189235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COMP_0330</c:v>
                </c:pt>
              </c:strCache>
            </c:strRef>
          </c:tx>
          <c:spPr>
            <a:solidFill>
              <a:srgbClr val="5AD8A6"/>
            </a:solidFill>
            <a:ln w="25400" cap="flat">
              <a:solidFill>
                <a:srgbClr val="5AD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D8A6"/>
              </a:solidFill>
              <a:ln w="9525" cap="flat">
                <a:solidFill>
                  <a:srgbClr val="5AD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52.33333333333333</c:v>
                </c:pt>
                <c:pt idx="1">
                  <c:v>54.59888737342615</c:v>
                </c:pt>
                <c:pt idx="2">
                  <c:v>56.153031480853954</c:v>
                </c:pt>
                <c:pt idx="3">
                  <c:v>61.61799937473557</c:v>
                </c:pt>
                <c:pt idx="4">
                  <c:v>63.89755352078548</c:v>
                </c:pt>
                <c:pt idx="5">
                  <c:v>70.08918805081736</c:v>
                </c:pt>
                <c:pt idx="6">
                  <c:v>68.6966683406156</c:v>
                </c:pt>
                <c:pt idx="7">
                  <c:v>68.87984030594676</c:v>
                </c:pt>
                <c:pt idx="8">
                  <c:v>69.30708886575388</c:v>
                </c:pt>
                <c:pt idx="9">
                  <c:v>69.51764194859231</c:v>
                </c:pt>
                <c:pt idx="10">
                  <c:v>69.14526121887623</c:v>
                </c:pt>
                <c:pt idx="11">
                  <c:v>69.66956502506642</c:v>
                </c:pt>
                <c:pt idx="12">
                  <c:v>69.87683207313654</c:v>
                </c:pt>
                <c:pt idx="13">
                  <c:v>69.98046781379584</c:v>
                </c:pt>
                <c:pt idx="14">
                  <c:v>69.69805794126678</c:v>
                </c:pt>
                <c:pt idx="15">
                  <c:v>68.81293029887821</c:v>
                </c:pt>
                <c:pt idx="16">
                  <c:v>67.67924645862567</c:v>
                </c:pt>
                <c:pt idx="17">
                  <c:v>66.7951142854103</c:v>
                </c:pt>
                <c:pt idx="18">
                  <c:v>63.76602255827895</c:v>
                </c:pt>
                <c:pt idx="19">
                  <c:v>63.38527630265813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COMP_0338</c:v>
                </c:pt>
              </c:strCache>
            </c:strRef>
          </c:tx>
          <c:spPr>
            <a:solidFill>
              <a:srgbClr val="E8684A"/>
            </a:solidFill>
            <a:ln w="25400" cap="flat">
              <a:solidFill>
                <a:srgbClr val="E868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84A"/>
              </a:solidFill>
              <a:ln w="9525" cap="flat">
                <a:solidFill>
                  <a:srgbClr val="E868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49.59920380815948</c:v>
                </c:pt>
                <c:pt idx="1">
                  <c:v>49.00246133178478</c:v>
                </c:pt>
                <c:pt idx="2">
                  <c:v>48.85062095320498</c:v>
                </c:pt>
                <c:pt idx="3">
                  <c:v>50.34833727163878</c:v>
                </c:pt>
                <c:pt idx="4">
                  <c:v>48.97609198492792</c:v>
                </c:pt>
                <c:pt idx="5">
                  <c:v>47.89280849074258</c:v>
                </c:pt>
                <c:pt idx="6">
                  <c:v>55.70749011838356</c:v>
                </c:pt>
                <c:pt idx="7">
                  <c:v>55.23082581787289</c:v>
                </c:pt>
                <c:pt idx="8">
                  <c:v>53.51996533178064</c:v>
                </c:pt>
                <c:pt idx="9">
                  <c:v>51.45257606155396</c:v>
                </c:pt>
                <c:pt idx="10">
                  <c:v>50.660507394000945</c:v>
                </c:pt>
                <c:pt idx="11">
                  <c:v>49.04863405155656</c:v>
                </c:pt>
                <c:pt idx="12">
                  <c:v>42.290498043229725</c:v>
                </c:pt>
                <c:pt idx="13">
                  <c:v>39.27130530006272</c:v>
                </c:pt>
                <c:pt idx="14">
                  <c:v>38.68920934887332</c:v>
                </c:pt>
                <c:pt idx="15">
                  <c:v>38.715536530794814</c:v>
                </c:pt>
                <c:pt idx="16">
                  <c:v>32.80025646132436</c:v>
                </c:pt>
                <c:pt idx="17">
                  <c:v>31.63807369527563</c:v>
                </c:pt>
                <c:pt idx="18">
                  <c:v>22.49022573485967</c:v>
                </c:pt>
                <c:pt idx="19">
                  <c:v>21.578377869219324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COMP_0844</c:v>
                </c:pt>
              </c:strCache>
            </c:strRef>
          </c:tx>
          <c:spPr>
            <a:solidFill>
              <a:srgbClr val="F6BD16"/>
            </a:solidFill>
            <a:ln w="25400" cap="flat">
              <a:solidFill>
                <a:srgbClr val="F6BD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6BD16"/>
              </a:solidFill>
              <a:ln w="9525" cap="flat">
                <a:solidFill>
                  <a:srgbClr val="F6BD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50</c:v>
                </c:pt>
                <c:pt idx="1">
                  <c:v>50</c:v>
                </c:pt>
                <c:pt idx="2">
                  <c:v>56.65828130862131</c:v>
                </c:pt>
                <c:pt idx="3">
                  <c:v>59.46210414331049</c:v>
                </c:pt>
                <c:pt idx="4">
                  <c:v>59.81063815588141</c:v>
                </c:pt>
                <c:pt idx="5">
                  <c:v>65.23105550292559</c:v>
                </c:pt>
                <c:pt idx="6">
                  <c:v>63.54519675321866</c:v>
                </c:pt>
                <c:pt idx="7">
                  <c:v>63.557288543252895</c:v>
                </c:pt>
                <c:pt idx="8">
                  <c:v>65.35921161663228</c:v>
                </c:pt>
                <c:pt idx="9">
                  <c:v>61.59915769557541</c:v>
                </c:pt>
                <c:pt idx="10">
                  <c:v>59.28657616338627</c:v>
                </c:pt>
                <c:pt idx="11">
                  <c:v>61.42403069248791</c:v>
                </c:pt>
                <c:pt idx="12">
                  <c:v>57.87304877080314</c:v>
                </c:pt>
                <c:pt idx="13">
                  <c:v>59.37381745305911</c:v>
                </c:pt>
                <c:pt idx="14">
                  <c:v>59.4116650959869</c:v>
                </c:pt>
                <c:pt idx="15">
                  <c:v>57.474620693397824</c:v>
                </c:pt>
                <c:pt idx="16">
                  <c:v>57.06811180411984</c:v>
                </c:pt>
                <c:pt idx="17">
                  <c:v>53.538144896668655</c:v>
                </c:pt>
                <c:pt idx="18">
                  <c:v>51.00209919941794</c:v>
                </c:pt>
                <c:pt idx="19">
                  <c:v>51.51005890020975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COMP_0915</c:v>
                </c:pt>
              </c:strCache>
            </c:strRef>
          </c:tx>
          <c:spPr>
            <a:solidFill>
              <a:srgbClr val="9270CA"/>
            </a:solidFill>
            <a:ln w="25400" cap="flat">
              <a:solidFill>
                <a:srgbClr val="9270C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270CA"/>
              </a:solidFill>
              <a:ln w="9525" cap="flat">
                <a:solidFill>
                  <a:srgbClr val="9270C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52.34170554991438</c:v>
                </c:pt>
                <c:pt idx="1">
                  <c:v>52.61869591250342</c:v>
                </c:pt>
                <c:pt idx="2">
                  <c:v>58.85165476471572</c:v>
                </c:pt>
                <c:pt idx="3">
                  <c:v>67.75974486174886</c:v>
                </c:pt>
                <c:pt idx="4">
                  <c:v>69.61745595908243</c:v>
                </c:pt>
                <c:pt idx="5">
                  <c:v>74.38412530249093</c:v>
                </c:pt>
                <c:pt idx="6">
                  <c:v>74.50140681855463</c:v>
                </c:pt>
                <c:pt idx="7">
                  <c:v>71.76553675086188</c:v>
                </c:pt>
                <c:pt idx="8">
                  <c:v>72.63990396481248</c:v>
                </c:pt>
                <c:pt idx="9">
                  <c:v>72.96023448048604</c:v>
                </c:pt>
                <c:pt idx="10">
                  <c:v>70.95742442967466</c:v>
                </c:pt>
                <c:pt idx="11">
                  <c:v>62.62241793197771</c:v>
                </c:pt>
                <c:pt idx="12">
                  <c:v>63.564400786921816</c:v>
                </c:pt>
                <c:pt idx="13">
                  <c:v>65.70998595591479</c:v>
                </c:pt>
                <c:pt idx="14">
                  <c:v>64.88977152435179</c:v>
                </c:pt>
                <c:pt idx="15">
                  <c:v>64.04102884102983</c:v>
                </c:pt>
                <c:pt idx="16">
                  <c:v>67.00014195956264</c:v>
                </c:pt>
                <c:pt idx="17">
                  <c:v>66.4998672007483</c:v>
                </c:pt>
                <c:pt idx="18">
                  <c:v>66.92559282720471</c:v>
                </c:pt>
                <c:pt idx="19">
                  <c:v>66.48478868415756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Agregado analítico</c:v>
                </c:pt>
              </c:strCache>
            </c:strRef>
          </c:tx>
          <c:spPr>
            <a:solidFill>
              <a:srgbClr val="10233F"/>
            </a:solidFill>
            <a:ln w="25400" cap="flat">
              <a:solidFill>
                <a:srgbClr val="1023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233F"/>
              </a:solidFill>
              <a:ln w="9525" cap="flat">
                <a:solidFill>
                  <a:srgbClr val="1023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Sheet1!$G$2:$G$21</c:f>
              <c:numCache>
                <c:formatCode>General</c:formatCode>
                <c:ptCount val="20"/>
                <c:pt idx="0">
                  <c:v>51.05601962121205</c:v>
                </c:pt>
                <c:pt idx="1">
                  <c:v>51.02806458076594</c:v>
                </c:pt>
                <c:pt idx="2">
                  <c:v>54.228374491508994</c:v>
                </c:pt>
                <c:pt idx="3">
                  <c:v>58.8264645159182</c:v>
                </c:pt>
                <c:pt idx="4">
                  <c:v>59.512720364841165</c:v>
                </c:pt>
                <c:pt idx="5">
                  <c:v>62.67518500068407</c:v>
                </c:pt>
                <c:pt idx="6">
                  <c:v>64.50172288971923</c:v>
                </c:pt>
                <c:pt idx="7">
                  <c:v>63.86340981001856</c:v>
                </c:pt>
                <c:pt idx="8">
                  <c:v>64.06599299764825</c:v>
                </c:pt>
                <c:pt idx="9">
                  <c:v>63.13259193361186</c:v>
                </c:pt>
                <c:pt idx="10">
                  <c:v>62.22552186910758</c:v>
                </c:pt>
                <c:pt idx="11">
                  <c:v>60.05859108974373</c:v>
                </c:pt>
                <c:pt idx="12">
                  <c:v>58.50821177357245</c:v>
                </c:pt>
                <c:pt idx="13">
                  <c:v>58.537721886845816</c:v>
                </c:pt>
                <c:pt idx="14">
                  <c:v>57.847607010989215</c:v>
                </c:pt>
                <c:pt idx="15">
                  <c:v>56.38920593182378</c:v>
                </c:pt>
                <c:pt idx="16">
                  <c:v>55.36570395124213</c:v>
                </c:pt>
                <c:pt idx="17">
                  <c:v>53.745290042822425</c:v>
                </c:pt>
                <c:pt idx="18">
                  <c:v>51.199491588960946</c:v>
                </c:pt>
                <c:pt idx="19">
                  <c:v>51.16209481813901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15"/>
        </c:scaling>
        <c:delete val="0"/>
        <c:axPos val="l"/>
        <c:majorGridlines>
          <c:spPr>
            <a:ln w="1270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85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5D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v0.2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261872"/>
            <a:ext cx="6858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Resultados, evolución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señales de riesgo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04672" y="3063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Cartera completa y caso GROUP_0088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46720" y="1234440"/>
            <a:ext cx="3154680" cy="3429000"/>
          </a:xfrm>
          <a:prstGeom prst="roundRect">
            <a:avLst/>
          </a:prstGeom>
          <a:solidFill>
            <a:srgbClr val="183554"/>
          </a:solidFill>
          <a:ln w="12700">
            <a:solidFill>
              <a:srgbClr val="3153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0" y="1737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53,2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458200" y="2560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5E5"/>
                </a:solidFill>
              </a:rPr>
              <a:t>mediana de score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95360" y="3063240"/>
            <a:ext cx="2057400" cy="0"/>
          </a:xfrm>
          <a:prstGeom prst="line">
            <a:avLst/>
          </a:prstGeom>
          <a:noFill/>
          <a:ln w="12700">
            <a:solidFill>
              <a:srgbClr val="4764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5D7C7"/>
                </a:solidFill>
              </a:rPr>
              <a:t>1286 empresas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6172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8BE"/>
                </a:solidFill>
              </a:rPr>
              <a:t>Corte: agosto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mide hoy el motor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73152" cy="1920240"/>
          </a:xfrm>
          <a:prstGeom prst="rect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373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A5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96112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oficial por empresa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observación mensual por company_id. Combina 12 indicadores, score 0–100 y confianza 0–1.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70832" y="155448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554480"/>
            <a:ext cx="73152" cy="1920240"/>
          </a:xfrm>
          <a:prstGeom prst="rect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7373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26864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oficiales por holding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6864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group_id participa en el split de calibración, pero el motor no agrega compañías ni emite un score consolidado.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01584" y="155448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554480"/>
            <a:ext cx="73152" cy="1920240"/>
          </a:xfrm>
          <a:prstGeom prst="rect">
            <a:avLst/>
          </a:prstGeom>
          <a:solidFill>
            <a:srgbClr val="3478C5"/>
          </a:solidFill>
          <a:ln w="12700">
            <a:solidFill>
              <a:srgbClr val="3478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17373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78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57616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ponderados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57616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Caja, deuda, facturas, tendencia, concentración, volatilidad y dependencia de crédito.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10881360" cy="96012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123944"/>
            <a:ext cx="104790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vista de holding de estas slides es un promedio ponderado por confianza para análisis. No es una salida oficial ni debe usarse para decidir límites.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103327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Bandas: A ≥75 · B 60–74,9 · C 45–59,9 · D &lt;45.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confianza atenúa indicadores con poca historia o cobertura.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histórico de facturas está marcado como estimado.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scoring v0.2 · corte agosto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GENERAL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cartera se concentra alrededor de 50–60 puntos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73152" cy="155448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91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1286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96112" y="2167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 grupos; 179 con más de una empresa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50876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08760"/>
            <a:ext cx="73152" cy="1554480"/>
          </a:xfrm>
          <a:prstGeom prst="rect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691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A5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54,1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39312" y="2167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medio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9312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 53,2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508760"/>
            <a:ext cx="73152" cy="1554480"/>
          </a:xfrm>
          <a:prstGeom prst="rect">
            <a:avLst/>
          </a:prstGeom>
          <a:solidFill>
            <a:srgbClr val="3478C5"/>
          </a:solidFill>
          <a:ln w="12700">
            <a:solidFill>
              <a:srgbClr val="3478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691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78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48,6%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82512" y="2167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media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mitad de la cartera queda aproximadamente por encima de 0,55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69680" y="150876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1508760"/>
            <a:ext cx="73152" cy="155448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16916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2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25712" y="21671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empresas en 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25712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 observado: 74,3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777240" y="3520440"/>
          <a:ext cx="68122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7909560" y="3657600"/>
            <a:ext cx="3337560" cy="16916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10728" y="3803904"/>
            <a:ext cx="293522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713 empresas están entre 50 y 59 puntos. La distribución tiene poco poder de separación en la parte alta y ninguna empresa alcanza A.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92440" y="5577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7083"/>
                </a:solidFill>
              </a:rPr>
              <a:t>Rango total: 21,6–74,3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scoring v0.2 · corte agosto 2026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Distribución por franja de puntuación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63040"/>
          <a:ext cx="47548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645920"/>
          <a:ext cx="548640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Franja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Umbral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Empresas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cartera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75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60–74,9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23,5%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45–59,9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67,7%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45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8,9%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23560" y="1645920"/>
            <a:ext cx="5486400" cy="4572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15000" y="17739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Franja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086600" y="17739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Umbral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458200" y="17739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Empresas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829800" y="1773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% cartera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23560" y="4434840"/>
            <a:ext cx="5486400" cy="105156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24728" y="4581144"/>
            <a:ext cx="50840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motor rebaja 17 empresas por deterioro estructural: 3 pasan de B a C y 14 de C a D. Por eso la banda asignada termina en B 299 · C 859 · D 128.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score numérico y banda final del motor · corte agosto 2026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Y SEÑALES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decisiones son más severas que la distribución de score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554480"/>
          <a:ext cx="55778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60020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29400" y="1600200"/>
            <a:ext cx="73152" cy="1463040"/>
          </a:xfrm>
          <a:prstGeom prst="rect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78308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85432" y="22585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85432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34,1% de la cartera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144000" y="160020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0" y="1600200"/>
            <a:ext cx="73152" cy="146304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0032" y="178308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2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400032" y="22585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insuficientes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400032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 activa en el último mes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29400" y="333756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3337560"/>
            <a:ext cx="73152" cy="1463040"/>
          </a:xfrm>
          <a:prstGeom prst="rect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85432" y="35204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885432" y="3995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deterioro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85432" y="4297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en mejora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44000" y="333756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0" y="3337560"/>
            <a:ext cx="73152" cy="1463040"/>
          </a:xfrm>
          <a:prstGeom prst="rect">
            <a:avLst/>
          </a:prstGeom>
          <a:solidFill>
            <a:srgbClr val="3478C5"/>
          </a:solidFill>
          <a:ln w="12700">
            <a:solidFill>
              <a:srgbClr val="3478C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00032" y="35204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78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210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400032" y="3995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vencido alto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400032" y="4297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con impacto de cierre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22960" y="5166360"/>
            <a:ext cx="10424160" cy="7772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5312664"/>
            <a:ext cx="10021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score medio no implica una decisión media: las reglas duras y la confianza tienen prioridad sobre la franja numérica.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scoring v0.2 · corte agosto 2026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backtest exige cautela antes de usarlo para crédito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73152" cy="1554480"/>
          </a:xfrm>
          <a:prstGeom prst="rect">
            <a:avLst/>
          </a:prstGeom>
          <a:solidFill>
            <a:srgbClr val="3478C5"/>
          </a:solidFill>
          <a:ln w="12700">
            <a:solidFill>
              <a:srgbClr val="3478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373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78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0,16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96112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Spearman a 3 meses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4113 pares; relación positiva, pero débil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5544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54480"/>
            <a:ext cx="73152" cy="1554480"/>
          </a:xfrm>
          <a:prstGeom prst="rect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7373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85032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de deterioro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85032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de 22 eventos anticipados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73152" cy="155448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7373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A2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14,5%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73952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de recuperación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de 76 eventos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06840" y="155448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1554480"/>
            <a:ext cx="73152" cy="1554480"/>
          </a:xfrm>
          <a:prstGeom prst="rect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17373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90–100%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62872" y="2212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falsas alarmas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62872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deterioro · 90,5% recuperación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657600"/>
            <a:ext cx="102412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alertas actuales no anticipan los eventos de deterioro definidos por el propio protocolo.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correlación de 0,16 aporta señal, pero no basta para validar precios, límites o cierres automáticos.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indicadores de facturas requieren especial revisión porque el histórico de estados se reconstruye desde una foto final.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" y="5486400"/>
            <a:ext cx="10424160" cy="68580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632704"/>
            <a:ext cx="10021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recomendada: herramienta de priorización y diagnóstico con revisión humana; todavía no motor autónomo de decisión.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backtest de validación · 348 empresas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DE GRUPO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GROUP_0088: cinco trayectorias, tres perfiles de riesgo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288036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Empresa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Banda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Dirección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Acción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 desde inicio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COMP_0074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51,5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82,2%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+1,6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COMP_0330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63,4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80,9%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+11,1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COMP_0338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76,0%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deterioro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-28,0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COMP_0844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51,5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54,9%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COMP_0915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66,5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79,2%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+14,1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1508760"/>
            <a:ext cx="10881360" cy="43891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6367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Empresa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95144" y="1636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0" y="1636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85816" y="1636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Banda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31152" y="1636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Dirección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76488" y="1636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Acción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21824" y="1636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Δ desde inicio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4754880"/>
            <a:ext cx="5303520" cy="96012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4901184"/>
            <a:ext cx="4901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dispersión intragrupo es material: 44,9 puntos entre la mejor y la peor compañía. Un único promedio de holding ocultaría esa concentración de riesgo.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4754880"/>
            <a:ext cx="5303520" cy="96012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4901184"/>
            <a:ext cx="4901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COMP_0338 cae a D y deterioro; COMP_0915 se mantiene en B. Ambas pertenecen al mismo grupo, pero necesitan decisiones distintas.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scoring v0.2 · corte agosto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GROUP_0088: el agregado vuelve al punto de partida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17320"/>
          <a:ext cx="10881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806440"/>
            <a:ext cx="10424160" cy="56692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5952744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agregado ilustrativo alcanza 64,5 en 2025-07, pero termina en 51,2: −13,3 puntos desde el máximo.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Agregado analítico = media ponderada por confianza; no es un score oficial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PROFUNDIZACIÓN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COMP_0338: una caída sostenida hasta 21,6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73152" cy="155448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916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49,6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96112" y="2167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· 2025-01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observación con confianza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08760"/>
            <a:ext cx="73152" cy="1554480"/>
          </a:xfrm>
          <a:prstGeom prst="rect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6916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A5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55,7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56432" y="2167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 histórico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Julio de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50876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508760"/>
            <a:ext cx="73152" cy="1554480"/>
          </a:xfrm>
          <a:prstGeom prst="rect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6916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21,6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16752" y="2167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agosto de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6752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Banda D · confianza 76,0%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21040" y="1508760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508760"/>
            <a:ext cx="73152" cy="1554480"/>
          </a:xfrm>
          <a:prstGeom prst="rect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16916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−34,1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577072" y="21671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 desde el máximo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77072" y="2468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Dirección: deterioro · naturaleza: temporal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</a:rPr>
              <a:t>Indicadores que más penalizan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77640"/>
          <a:ext cx="4892040" cy="1737360"/>
        </p:xfrm>
        <a:graphic>
          <a:graphicData uri="http://schemas.openxmlformats.org/drawingml/2006/table">
            <a:tbl>
              <a:tblPr/>
              <a:tblGrid>
                <a:gridCol w="1630680"/>
                <a:gridCol w="1630680"/>
                <a:gridCol w="1630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Indicador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Aportación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Valor bruto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Facturas vencidas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0,01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Volatilidad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0,08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Tendencia del margen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0,16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-228,05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Meses con déficit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08076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</a:rPr>
              <a:t>Señales activas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172200" y="3977640"/>
            <a:ext cx="46634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deterioro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deficit persistente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8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vencido alto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989320" y="5166360"/>
            <a:ext cx="5212080" cy="73152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90488" y="531266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etiqueta «temporal» merece revisión: el score encadena doce meses de caída frente a agosto de 2025. La clasificación depende de la alineación de indicadores, no solo de la duración visual.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scoring v0.2 · corte agosto 2026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DE GRUPO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cierre domina incluso cuando existe capacidad calculada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3063240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Empresa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Límite recomendado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Límite aplicado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Acción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Alerta clave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COMP_0074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51,5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deficit_persistente, vencido_alto, dependencia_credito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COMP_0330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63,4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7000 €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vencido_alto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COMP_0338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deterioro, deficit_persistente, vencido_alto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COMP_0844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51,5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vencido_alto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COMP_0915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66,5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553.000 €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0 €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cerrar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4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vencido_alto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4892040"/>
            <a:ext cx="5120640" cy="100584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8408" y="503834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COMP_0915 calcula 553.000 € de límite, pero aplica 0 € por cierre. La regla dura tiene precedencia sobre capacidad y banda.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4892040"/>
            <a:ext cx="5074920" cy="10058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19088" y="5038344"/>
            <a:ext cx="4672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las cinco empresas del grupo cierren por vencidos sugiere una señal común real o un efecto sistemático de la reconstrucción estimada de facturas. Debe validarse contra un ledger histórico.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scoring v0.2 · corte agosto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2A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ITERACIÓN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haría antes de crear un score de holding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566928" cy="566928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Validar facturas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06240" y="143560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083"/>
                </a:solidFill>
              </a:rPr>
              <a:t>Contrastar vencidos y pagos con un ledger histórico por fecha de corte.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60704" y="1993392"/>
            <a:ext cx="0" cy="347472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054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Recalibrar alertas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06240" y="235000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083"/>
                </a:solidFill>
              </a:rPr>
              <a:t>Corregir recall 0% y falsas alarmas antes de automatizar cierres.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60704" y="2907792"/>
            <a:ext cx="0" cy="347472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46120"/>
            <a:ext cx="566928" cy="56692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198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Modelar el grupo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206240" y="326440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083"/>
                </a:solidFill>
              </a:rPr>
              <a:t>Eliminar transferencias intragrupo y consolidar caja, deuda y límites.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60704" y="3822192"/>
            <a:ext cx="0" cy="347472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342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Definir contagio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06240" y="417880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083"/>
                </a:solidFill>
              </a:rPr>
              <a:t>Medir concentración del riesgo y garantías cruzadas entre sociedades.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60704" y="4736592"/>
            <a:ext cx="0" cy="347472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074920"/>
            <a:ext cx="566928" cy="56692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486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5093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Emitir dos outputs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206240" y="509320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083"/>
                </a:solidFill>
              </a:rPr>
              <a:t>Company score y holding score, cada uno con confianza y contribuciones propias.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6080760"/>
            <a:ext cx="10607040" cy="50292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6227064"/>
            <a:ext cx="10204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Hoy: un score por compañía. El score de holding debe construirse sobre magnitudes consolidadas; promediar scores individuales ocultaría empresas como COMP_0338.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scoring v0.2 · corte agosto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Tres conclusiones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6002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5D7C7"/>
                </a:solidFill>
              </a:rPr>
              <a:t>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00200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Concentración media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60520" y="16184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5E5"/>
                </a:solidFill>
              </a:rPr>
              <a:t>El 67,7% está en C y ninguna empresa alcanza A; el modelo separa poco la cola superior.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5D7C7"/>
                </a:solidFill>
              </a:rPr>
              <a:t>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00200" y="2990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Señales severas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160520" y="29900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5E5"/>
                </a:solidFill>
              </a:rPr>
              <a:t>438 cierres y alertas con baja precisión obligan a mantener revisión humana.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5D7C7"/>
                </a:solidFill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00200" y="4361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Riesgo intragrupo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60520" y="4361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5E5"/>
                </a:solidFill>
              </a:rPr>
              <a:t>GROUP_0088 combina 66,5 y 21,6 puntos; un promedio único no cuenta toda la historia.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5806440"/>
            <a:ext cx="10424160" cy="0"/>
          </a:xfrm>
          <a:prstGeom prst="line">
            <a:avLst/>
          </a:prstGeom>
          <a:noFill/>
          <a:ln w="12700">
            <a:solidFill>
              <a:srgbClr val="3153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80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D7C7"/>
                </a:solidFill>
              </a:rPr>
              <a:t>Decisión recomendada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5989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Validar y recalibrar antes de automatizar; diseñar después el modelo consolidado de holding.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Airbenders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Scoring v0.2 — resultados y evolución</dc:title>
  <dc:subject>Análisis de resultados del motor de scoring v0.2</dc:subject>
  <dc:creator>Airbenders</dc:creator>
  <cp:lastModifiedBy>Airbenders</cp:lastModifiedBy>
  <cp:revision>1</cp:revision>
  <dcterms:created xsi:type="dcterms:W3CDTF">2026-09-19T00:44:02Z</dcterms:created>
  <dcterms:modified xsi:type="dcterms:W3CDTF">2026-09-19T00:44:02Z</dcterms:modified>
</cp:coreProperties>
</file>